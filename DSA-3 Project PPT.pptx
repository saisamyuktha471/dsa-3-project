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fFVSYlHhedZdjcB+uhegrQOHT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9" name="Google Shape;2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2" name="Google Shape;42;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5" name="Google Shape;55;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6" name="Google Shape;56;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7" name="Google Shape;5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22"/>
          <p:cNvSpPr>
            <a:spLocks noGrp="1"/>
          </p:cNvSpPr>
          <p:nvPr>
            <p:ph type="pic" idx="2"/>
          </p:nvPr>
        </p:nvSpPr>
        <p:spPr>
          <a:xfrm>
            <a:off x="5183188" y="987425"/>
            <a:ext cx="6172200" cy="4873625"/>
          </a:xfrm>
          <a:prstGeom prst="rect">
            <a:avLst/>
          </a:prstGeom>
          <a:noFill/>
          <a:ln>
            <a:noFill/>
          </a:ln>
        </p:spPr>
      </p:sp>
      <p:sp>
        <p:nvSpPr>
          <p:cNvPr id="63" name="Google Shape;63;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4" name="Google Shape;6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5" name="Google Shape;75;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E4D4">
            <a:alpha val="10196"/>
          </a:srgbClr>
        </a:solidFill>
        <a:effectLst/>
      </p:bgPr>
    </p:bg>
    <p:spTree>
      <p:nvGrpSpPr>
        <p:cNvPr id="1" name="Shape 5"/>
        <p:cNvGrpSpPr/>
        <p:nvPr/>
      </p:nvGrpSpPr>
      <p:grpSpPr>
        <a:xfrm>
          <a:off x="0" y="0"/>
          <a:ext cx="0" cy="0"/>
          <a:chOff x="0" y="0"/>
          <a:chExt cx="0" cy="0"/>
        </a:xfrm>
      </p:grpSpPr>
      <p:pic>
        <p:nvPicPr>
          <p:cNvPr id="6" name="Google Shape;6;p13" descr="KL University Hyderabad"/>
          <p:cNvPicPr preferRelativeResize="0"/>
          <p:nvPr/>
        </p:nvPicPr>
        <p:blipFill rotWithShape="1">
          <a:blip r:embed="rId13">
            <a:alphaModFix/>
          </a:blip>
          <a:srcRect/>
          <a:stretch/>
        </p:blipFill>
        <p:spPr>
          <a:xfrm>
            <a:off x="0" y="44450"/>
            <a:ext cx="2101850" cy="900113"/>
          </a:xfrm>
          <a:prstGeom prst="rect">
            <a:avLst/>
          </a:prstGeom>
          <a:noFill/>
          <a:ln>
            <a:noFill/>
          </a:ln>
        </p:spPr>
      </p:pic>
      <p:sp>
        <p:nvSpPr>
          <p:cNvPr id="7" name="Google Shape;7;p13"/>
          <p:cNvSpPr/>
          <p:nvPr/>
        </p:nvSpPr>
        <p:spPr>
          <a:xfrm>
            <a:off x="0" y="6811963"/>
            <a:ext cx="12192000" cy="46037"/>
          </a:xfrm>
          <a:prstGeom prst="rect">
            <a:avLst/>
          </a:prstGeom>
          <a:solidFill>
            <a:srgbClr val="BA25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 name="Google Shape;8;p13"/>
          <p:cNvSpPr/>
          <p:nvPr/>
        </p:nvSpPr>
        <p:spPr>
          <a:xfrm>
            <a:off x="0" y="0"/>
            <a:ext cx="12192000" cy="46038"/>
          </a:xfrm>
          <a:prstGeom prst="rect">
            <a:avLst/>
          </a:prstGeom>
          <a:solidFill>
            <a:srgbClr val="BA25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 name="Google Shape;9;p13" descr="Background pattern&#10;&#10;Description automatically generated"/>
          <p:cNvPicPr preferRelativeResize="0"/>
          <p:nvPr/>
        </p:nvPicPr>
        <p:blipFill rotWithShape="1">
          <a:blip r:embed="rId14">
            <a:alphaModFix/>
          </a:blip>
          <a:srcRect/>
          <a:stretch/>
        </p:blipFill>
        <p:spPr>
          <a:xfrm>
            <a:off x="0" y="0"/>
            <a:ext cx="3003550" cy="30035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a:spLocks noGrp="1"/>
          </p:cNvSpPr>
          <p:nvPr>
            <p:ph type="ctrTitle"/>
          </p:nvPr>
        </p:nvSpPr>
        <p:spPr>
          <a:xfrm>
            <a:off x="1900475" y="426375"/>
            <a:ext cx="9144000" cy="19728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C00000"/>
              </a:buClr>
              <a:buSzPts val="6000"/>
              <a:buFont typeface="Calibri"/>
              <a:buNone/>
            </a:pP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sz="4000" b="1">
                <a:solidFill>
                  <a:srgbClr val="C00000"/>
                </a:solidFill>
                <a:latin typeface="Calibri"/>
                <a:ea typeface="Calibri"/>
                <a:cs typeface="Calibri"/>
                <a:sym typeface="Calibri"/>
              </a:rPr>
            </a:br>
            <a:r>
              <a:rPr lang="en-US" sz="2900" b="1">
                <a:solidFill>
                  <a:srgbClr val="C00000"/>
                </a:solidFill>
                <a:latin typeface="Calibri"/>
                <a:ea typeface="Calibri"/>
                <a:cs typeface="Calibri"/>
                <a:sym typeface="Calibri"/>
              </a:rPr>
              <a:t>Data Structures and Algorithms -3 (25CS2103E)</a:t>
            </a:r>
            <a:br>
              <a:rPr lang="en-US" sz="2900" b="1">
                <a:solidFill>
                  <a:srgbClr val="C00000"/>
                </a:solidFill>
                <a:latin typeface="Calibri"/>
                <a:ea typeface="Calibri"/>
                <a:cs typeface="Calibri"/>
                <a:sym typeface="Calibri"/>
              </a:rPr>
            </a:br>
            <a:br>
              <a:rPr lang="en-US" sz="2900" b="1">
                <a:solidFill>
                  <a:srgbClr val="C00000"/>
                </a:solidFill>
                <a:latin typeface="Calibri"/>
                <a:ea typeface="Calibri"/>
                <a:cs typeface="Calibri"/>
                <a:sym typeface="Calibri"/>
              </a:rPr>
            </a:br>
            <a:r>
              <a:rPr lang="en-US" sz="2900" b="1">
                <a:solidFill>
                  <a:srgbClr val="C00000"/>
                </a:solidFill>
                <a:latin typeface="Calibri"/>
                <a:ea typeface="Calibri"/>
                <a:cs typeface="Calibri"/>
                <a:sym typeface="Calibri"/>
              </a:rPr>
              <a:t>Title of the project: Intelligent Multilingual Spell Checking Suggestion System</a:t>
            </a:r>
            <a:endParaRPr sz="4900"/>
          </a:p>
        </p:txBody>
      </p:sp>
      <p:sp>
        <p:nvSpPr>
          <p:cNvPr id="84" name="Google Shape;84;p1"/>
          <p:cNvSpPr txBox="1">
            <a:spLocks noGrp="1"/>
          </p:cNvSpPr>
          <p:nvPr>
            <p:ph type="subTitle" idx="1"/>
          </p:nvPr>
        </p:nvSpPr>
        <p:spPr>
          <a:xfrm>
            <a:off x="8542950" y="3549725"/>
            <a:ext cx="3005100" cy="2517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70C0"/>
              </a:buClr>
              <a:buSzPts val="2400"/>
              <a:buNone/>
            </a:pPr>
            <a:r>
              <a:rPr lang="en-US" sz="1800">
                <a:solidFill>
                  <a:srgbClr val="0070C0"/>
                </a:solidFill>
              </a:rPr>
              <a:t>Team Members</a:t>
            </a:r>
            <a:endParaRPr sz="1800"/>
          </a:p>
          <a:p>
            <a:pPr marL="0" lvl="0" indent="0" algn="ctr" rtl="0">
              <a:lnSpc>
                <a:spcPct val="90000"/>
              </a:lnSpc>
              <a:spcBef>
                <a:spcPts val="1000"/>
              </a:spcBef>
              <a:spcAft>
                <a:spcPts val="0"/>
              </a:spcAft>
              <a:buClr>
                <a:srgbClr val="0070C0"/>
              </a:buClr>
              <a:buSzPts val="2400"/>
              <a:buNone/>
            </a:pPr>
            <a:r>
              <a:rPr lang="en-US" sz="1800">
                <a:solidFill>
                  <a:srgbClr val="0070C0"/>
                </a:solidFill>
              </a:rPr>
              <a:t>Name: B.Harini</a:t>
            </a:r>
            <a:endParaRPr sz="1800">
              <a:solidFill>
                <a:srgbClr val="0070C0"/>
              </a:solidFill>
            </a:endParaRPr>
          </a:p>
          <a:p>
            <a:pPr marL="0" lvl="0" indent="0" algn="ctr" rtl="0">
              <a:lnSpc>
                <a:spcPct val="90000"/>
              </a:lnSpc>
              <a:spcBef>
                <a:spcPts val="1000"/>
              </a:spcBef>
              <a:spcAft>
                <a:spcPts val="0"/>
              </a:spcAft>
              <a:buClr>
                <a:srgbClr val="0070C0"/>
              </a:buClr>
              <a:buSzPts val="2400"/>
              <a:buNone/>
            </a:pPr>
            <a:r>
              <a:rPr lang="en-US" sz="1800">
                <a:solidFill>
                  <a:srgbClr val="0070C0"/>
                </a:solidFill>
              </a:rPr>
              <a:t>Rollno. 2520030384</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Name: K. Sai Samyuktha</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Rollno. 2520030443</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Name: B. Devi Charitha</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Rollno. 2520030462</a:t>
            </a:r>
            <a:endParaRPr sz="1800">
              <a:solidFill>
                <a:srgbClr val="0070C0"/>
              </a:solidFill>
            </a:endParaRPr>
          </a:p>
          <a:p>
            <a:pPr marL="171450" lvl="0" indent="0" algn="ctr" rtl="0">
              <a:lnSpc>
                <a:spcPct val="107000"/>
              </a:lnSpc>
              <a:spcBef>
                <a:spcPts val="1000"/>
              </a:spcBef>
              <a:spcAft>
                <a:spcPts val="0"/>
              </a:spcAft>
              <a:buClr>
                <a:schemeClr val="dk1"/>
              </a:buClr>
              <a:buSzPts val="1800"/>
              <a:buNone/>
            </a:pPr>
            <a:endParaRPr sz="1900">
              <a:solidFill>
                <a:srgbClr val="0000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sz="2500" b="1">
              <a:solidFill>
                <a:srgbClr val="C00000"/>
              </a:solidFill>
            </a:endParaRPr>
          </a:p>
        </p:txBody>
      </p:sp>
      <p:sp>
        <p:nvSpPr>
          <p:cNvPr id="85" name="Google Shape;85;p1"/>
          <p:cNvSpPr txBox="1"/>
          <p:nvPr/>
        </p:nvSpPr>
        <p:spPr>
          <a:xfrm>
            <a:off x="1505175" y="3986375"/>
            <a:ext cx="4983000" cy="2286000"/>
          </a:xfrm>
          <a:prstGeom prst="rect">
            <a:avLst/>
          </a:prstGeom>
          <a:noFill/>
          <a:ln>
            <a:noFill/>
          </a:ln>
        </p:spPr>
        <p:txBody>
          <a:bodyPr spcFirstLastPara="1" wrap="square" lIns="91425" tIns="91425" rIns="91425" bIns="91425" anchor="t" anchorCtr="0">
            <a:noAutofit/>
          </a:bodyPr>
          <a:lstStyle/>
          <a:p>
            <a:pPr marL="171450" lvl="0" indent="0" algn="ctr" rtl="0">
              <a:lnSpc>
                <a:spcPct val="107000"/>
              </a:lnSpc>
              <a:spcBef>
                <a:spcPts val="1800"/>
              </a:spcBef>
              <a:spcAft>
                <a:spcPts val="0"/>
              </a:spcAft>
              <a:buClr>
                <a:schemeClr val="dk1"/>
              </a:buClr>
              <a:buSzPts val="1800"/>
              <a:buFont typeface="Arial"/>
              <a:buNone/>
            </a:pPr>
            <a:r>
              <a:rPr lang="en-US" sz="1800" dirty="0">
                <a:solidFill>
                  <a:schemeClr val="dk1"/>
                </a:solidFill>
                <a:latin typeface="Times New Roman"/>
                <a:ea typeface="Times New Roman"/>
                <a:cs typeface="Times New Roman"/>
                <a:sym typeface="Times New Roman"/>
              </a:rPr>
              <a:t>Under the Esteemed Guidance of</a:t>
            </a:r>
            <a:endParaRPr sz="1800" dirty="0">
              <a:solidFill>
                <a:schemeClr val="dk1"/>
              </a:solidFill>
              <a:latin typeface="Calibri"/>
              <a:ea typeface="Calibri"/>
              <a:cs typeface="Calibri"/>
              <a:sym typeface="Calibri"/>
            </a:endParaRPr>
          </a:p>
          <a:p>
            <a:pPr marL="0" lvl="0" indent="0" algn="ctr" rtl="0">
              <a:lnSpc>
                <a:spcPct val="90000"/>
              </a:lnSpc>
              <a:spcBef>
                <a:spcPts val="1800"/>
              </a:spcBef>
              <a:spcAft>
                <a:spcPts val="0"/>
              </a:spcAft>
              <a:buClr>
                <a:schemeClr val="dk1"/>
              </a:buClr>
              <a:buSzPts val="2400"/>
              <a:buFont typeface="Arial"/>
              <a:buNone/>
            </a:pPr>
            <a:r>
              <a:rPr lang="en-IN" sz="2400" dirty="0">
                <a:solidFill>
                  <a:srgbClr val="0070C0"/>
                </a:solidFill>
                <a:latin typeface="Calibri"/>
                <a:ea typeface="Calibri"/>
                <a:cs typeface="Calibri"/>
                <a:sym typeface="Calibri"/>
              </a:rPr>
              <a:t>Mrs. J. Yamini Devi</a:t>
            </a:r>
            <a:endParaRPr sz="2400" dirty="0">
              <a:solidFill>
                <a:srgbClr val="0070C0"/>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p:nvPr/>
        </p:nvSpPr>
        <p:spPr>
          <a:xfrm>
            <a:off x="3736109" y="806448"/>
            <a:ext cx="6936386" cy="583557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Abstract</a:t>
            </a:r>
            <a:endParaRPr/>
          </a:p>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Introduction</a:t>
            </a:r>
            <a:endParaRPr sz="3200" b="0" i="0" u="none" strike="noStrike">
              <a:solidFill>
                <a:schemeClr val="dk1"/>
              </a:solidFill>
              <a:latin typeface="Arial"/>
              <a:ea typeface="Arial"/>
              <a:cs typeface="Arial"/>
              <a:sym typeface="Arial"/>
            </a:endParaRPr>
          </a:p>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Literature survey</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Problem Statement and Objectives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Hardware and Software requirements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Results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Conclusion </a:t>
            </a:r>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Future Scope </a:t>
            </a:r>
            <a:endParaRPr sz="3200" b="0" i="0" u="none" strike="noStrike">
              <a:solidFill>
                <a:schemeClr val="dk1"/>
              </a:solidFill>
              <a:latin typeface="Arial"/>
              <a:ea typeface="Arial"/>
              <a:cs typeface="Arial"/>
              <a:sym typeface="Arial"/>
            </a:endParaRPr>
          </a:p>
          <a:p>
            <a:pPr marL="0" marR="0" lvl="0" indent="0" algn="l" rtl="0">
              <a:spcBef>
                <a:spcPts val="800"/>
              </a:spcBef>
              <a:spcAft>
                <a:spcPts val="0"/>
              </a:spcAft>
              <a:buNone/>
            </a:pPr>
            <a:endParaRPr sz="1800">
              <a:solidFill>
                <a:schemeClr val="dk1"/>
              </a:solidFill>
              <a:latin typeface="Calibri"/>
              <a:ea typeface="Calibri"/>
              <a:cs typeface="Calibri"/>
              <a:sym typeface="Calibri"/>
            </a:endParaRPr>
          </a:p>
        </p:txBody>
      </p:sp>
      <p:sp>
        <p:nvSpPr>
          <p:cNvPr id="91" name="Google Shape;91;p2"/>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2"/>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3"/>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Abstract</a:t>
            </a:r>
            <a:endParaRPr/>
          </a:p>
        </p:txBody>
      </p:sp>
      <p:sp>
        <p:nvSpPr>
          <p:cNvPr id="99" name="Google Shape;99;p3"/>
          <p:cNvSpPr txBox="1"/>
          <p:nvPr/>
        </p:nvSpPr>
        <p:spPr>
          <a:xfrm>
            <a:off x="798250" y="1162225"/>
            <a:ext cx="10819200" cy="5012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Clr>
                <a:schemeClr val="dk1"/>
              </a:buClr>
              <a:buSzPts val="1100"/>
              <a:buFont typeface="Arial"/>
              <a:buNone/>
            </a:pPr>
            <a:r>
              <a:rPr lang="en-US" sz="2000" b="1">
                <a:solidFill>
                  <a:schemeClr val="dk1"/>
                </a:solidFill>
              </a:rPr>
              <a:t>Abstract</a:t>
            </a:r>
            <a:endParaRPr sz="20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The proposed </a:t>
            </a:r>
            <a:r>
              <a:rPr lang="en-US" sz="2000" b="1">
                <a:solidFill>
                  <a:schemeClr val="dk1"/>
                </a:solidFill>
              </a:rPr>
              <a:t>Intelligent Spell Checker</a:t>
            </a:r>
            <a:r>
              <a:rPr lang="en-US" sz="2000">
                <a:solidFill>
                  <a:schemeClr val="dk1"/>
                </a:solidFill>
              </a:rPr>
              <a:t> is designed to detect misspelled words and provide suitable correction suggestions automatically. The system uses the </a:t>
            </a:r>
            <a:r>
              <a:rPr lang="en-US" sz="2000" b="1">
                <a:solidFill>
                  <a:schemeClr val="dk1"/>
                </a:solidFill>
              </a:rPr>
              <a:t>Levenshtein Edit Distance</a:t>
            </a:r>
            <a:r>
              <a:rPr lang="en-US" sz="2000">
                <a:solidFill>
                  <a:schemeClr val="dk1"/>
                </a:solidFill>
              </a:rPr>
              <a:t> algorithm to measure the similarity between a misspelled word and words stored in a dictionary. It calculates the minimum number of insertions, deletions, and substitutions needed to transform one word into another and uses this distance to rank the best possible suggestions.</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The system is designed to support </a:t>
            </a:r>
            <a:r>
              <a:rPr lang="en-US" sz="2000" b="1">
                <a:solidFill>
                  <a:schemeClr val="dk1"/>
                </a:solidFill>
              </a:rPr>
              <a:t>multiple languages and Unicode text</a:t>
            </a:r>
            <a:r>
              <a:rPr lang="en-US" sz="2000">
                <a:solidFill>
                  <a:schemeClr val="dk1"/>
                </a:solidFill>
              </a:rPr>
              <a:t>, making it suitable for diverse types of written content. It also focuses on reducing response time while handling large dictionaries through efficient searching and comparison techniques. The project demonstrates the practical application of </a:t>
            </a:r>
            <a:r>
              <a:rPr lang="en-US" sz="2000" b="1">
                <a:solidFill>
                  <a:schemeClr val="dk1"/>
                </a:solidFill>
              </a:rPr>
              <a:t>dynamic programming</a:t>
            </a:r>
            <a:r>
              <a:rPr lang="en-US" sz="2000">
                <a:solidFill>
                  <a:schemeClr val="dk1"/>
                </a:solidFill>
              </a:rPr>
              <a:t> in text processing and provides an efficient approach to automated spelling correction.</a:t>
            </a:r>
            <a:endParaRPr sz="2000">
              <a:solidFill>
                <a:schemeClr val="dk1"/>
              </a:solidFill>
            </a:endParaRPr>
          </a:p>
          <a:p>
            <a:pPr marL="0" lvl="0" indent="0" algn="just" rtl="0">
              <a:spcBef>
                <a:spcPts val="1200"/>
              </a:spcBef>
              <a:spcAft>
                <a:spcPts val="0"/>
              </a:spcAft>
              <a:buNone/>
            </a:pP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4"/>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Introduction</a:t>
            </a:r>
            <a:endParaRPr/>
          </a:p>
        </p:txBody>
      </p:sp>
      <p:sp>
        <p:nvSpPr>
          <p:cNvPr id="106" name="Google Shape;106;p4"/>
          <p:cNvSpPr txBox="1"/>
          <p:nvPr/>
        </p:nvSpPr>
        <p:spPr>
          <a:xfrm>
            <a:off x="760300" y="1160975"/>
            <a:ext cx="10441200" cy="5394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Clr>
                <a:schemeClr val="dk1"/>
              </a:buClr>
              <a:buSzPts val="1100"/>
              <a:buFont typeface="Arial"/>
              <a:buNone/>
            </a:pPr>
            <a:r>
              <a:rPr lang="en-US" sz="2000" b="1">
                <a:solidFill>
                  <a:schemeClr val="dk1"/>
                </a:solidFill>
              </a:rPr>
              <a:t>Introduction</a:t>
            </a:r>
            <a:endParaRPr sz="20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Spelling mistakes are common when users type digital content such as messages, documents, assignments, and online posts. These errors can reduce the accuracy and readability of written communication. A spell checker helps users identify incorrect words and provides possible corrections, making the writing process faster and more reliable.</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This project develops an </a:t>
            </a:r>
            <a:r>
              <a:rPr lang="en-US" sz="2000" b="1">
                <a:solidFill>
                  <a:schemeClr val="dk1"/>
                </a:solidFill>
              </a:rPr>
              <a:t>Intelligent Spell Checker using Levenshtein Edit Distance</a:t>
            </a:r>
            <a:r>
              <a:rPr lang="en-US" sz="2000">
                <a:solidFill>
                  <a:schemeClr val="dk1"/>
                </a:solidFill>
              </a:rPr>
              <a:t>, a dynamic programming technique for measuring the difference between two strings. The system compares an incorrectly spelled word with dictionary words and determines the closest matches based on their edit distance. The proposed system also considers </a:t>
            </a:r>
            <a:r>
              <a:rPr lang="en-US" sz="2000" b="1">
                <a:solidFill>
                  <a:schemeClr val="dk1"/>
                </a:solidFill>
              </a:rPr>
              <a:t>multilingual and Unicode text support</a:t>
            </a:r>
            <a:r>
              <a:rPr lang="en-US" sz="2000">
                <a:solidFill>
                  <a:schemeClr val="dk1"/>
                </a:solidFill>
              </a:rPr>
              <a:t>, along with efficient processing of large dictionaries, to provide accurate suggestions with minimum response time.</a:t>
            </a:r>
            <a:endParaRPr sz="2000">
              <a:solidFill>
                <a:schemeClr val="dk1"/>
              </a:solidFill>
            </a:endParaRPr>
          </a:p>
          <a:p>
            <a:pPr marL="0" lvl="0" indent="0" algn="just" rtl="0">
              <a:spcBef>
                <a:spcPts val="1200"/>
              </a:spcBef>
              <a:spcAft>
                <a:spcPts val="0"/>
              </a:spcAft>
              <a:buNone/>
            </a:pP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5"/>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Literature Survey</a:t>
            </a:r>
            <a:endParaRPr/>
          </a:p>
        </p:txBody>
      </p:sp>
      <p:sp>
        <p:nvSpPr>
          <p:cNvPr id="113" name="Google Shape;113;p5"/>
          <p:cNvSpPr txBox="1"/>
          <p:nvPr/>
        </p:nvSpPr>
        <p:spPr>
          <a:xfrm>
            <a:off x="631850" y="1032550"/>
            <a:ext cx="10890600" cy="509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000" b="1">
                <a:solidFill>
                  <a:schemeClr val="dk1"/>
                </a:solidFill>
              </a:rPr>
              <a:t>Literature Survey</a:t>
            </a:r>
            <a:endParaRPr sz="20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rPr>
              <a:t>Spell-checking has been widely explored in </a:t>
            </a:r>
            <a:r>
              <a:rPr lang="en-US" sz="2000" b="1">
                <a:solidFill>
                  <a:schemeClr val="dk1"/>
                </a:solidFill>
              </a:rPr>
              <a:t>Natural Language Processing (NLP)</a:t>
            </a:r>
            <a:r>
              <a:rPr lang="en-US" sz="2000">
                <a:solidFill>
                  <a:schemeClr val="dk1"/>
                </a:solidFill>
              </a:rPr>
              <a:t> and text-processing applications. Traditional spell-checking systems mainly depend on dictionaries to identify incorrect words and generate possible corrections. However, simple dictionary matching may not effectively determine which word is the closest correction when several similar words are available.</a:t>
            </a:r>
            <a:endParaRPr sz="2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rPr>
              <a:t>The </a:t>
            </a:r>
            <a:r>
              <a:rPr lang="en-US" sz="2000" b="1">
                <a:solidFill>
                  <a:schemeClr val="dk1"/>
                </a:solidFill>
              </a:rPr>
              <a:t>Levenshtein Edit Distance</a:t>
            </a:r>
            <a:r>
              <a:rPr lang="en-US" sz="2000">
                <a:solidFill>
                  <a:schemeClr val="dk1"/>
                </a:solidFill>
              </a:rPr>
              <a:t> algorithm has been widely used for approximate string matching and spell correction because it measures the minimum operations required to transform one word into another. Modern spell checkers also use techniques such as </a:t>
            </a:r>
            <a:r>
              <a:rPr lang="en-US" sz="2000" b="1">
                <a:solidFill>
                  <a:schemeClr val="dk1"/>
                </a:solidFill>
              </a:rPr>
              <a:t>phonetic matching, word frequency, context analysis, and language models</a:t>
            </a:r>
            <a:r>
              <a:rPr lang="en-US" sz="2000">
                <a:solidFill>
                  <a:schemeClr val="dk1"/>
                </a:solidFill>
              </a:rPr>
              <a:t> to improve accuracy. This project focuses on combining edit-distance-based matching with dictionary searching, multilingual support, Unicode compatibility, and efficiency for large dictionaries.</a:t>
            </a:r>
            <a:endParaRPr sz="2000">
              <a:solidFill>
                <a:schemeClr val="dk1"/>
              </a:solidFill>
            </a:endParaRPr>
          </a:p>
          <a:p>
            <a:pPr marL="0" lvl="0" indent="0" algn="l" rtl="0">
              <a:spcBef>
                <a:spcPts val="1200"/>
              </a:spcBef>
              <a:spcAft>
                <a:spcPts val="0"/>
              </a:spcAft>
              <a:buNone/>
            </a:pP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6"/>
          <p:cNvSpPr/>
          <p:nvPr/>
        </p:nvSpPr>
        <p:spPr>
          <a:xfrm>
            <a:off x="2660072" y="221673"/>
            <a:ext cx="6723625" cy="65579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6"/>
          <p:cNvSpPr txBox="1"/>
          <p:nvPr/>
        </p:nvSpPr>
        <p:spPr>
          <a:xfrm>
            <a:off x="2660072" y="29269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Problem Statement and Objectives</a:t>
            </a:r>
            <a:endParaRPr/>
          </a:p>
        </p:txBody>
      </p:sp>
      <p:sp>
        <p:nvSpPr>
          <p:cNvPr id="120" name="Google Shape;120;p6"/>
          <p:cNvSpPr txBox="1"/>
          <p:nvPr/>
        </p:nvSpPr>
        <p:spPr>
          <a:xfrm>
            <a:off x="553400" y="1300200"/>
            <a:ext cx="11454900" cy="522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1800">
                <a:solidFill>
                  <a:schemeClr val="dk1"/>
                </a:solidFill>
              </a:rPr>
              <a:t>Spelling errors are common in digital text and can affect the accuracy and readability of written communication. Traditional spell-checking systems can detect incorrect words but may struggle to provide accurate suggestions, especially when working with large dictionaries, multiple languages, and Unicode characters. Therefore, there is a need for an efficient intelligent spell checker that can identify misspelled words and recommend the most suitable corrections. The proposed system uses the </a:t>
            </a:r>
            <a:r>
              <a:rPr lang="en-US" sz="1800" b="1">
                <a:solidFill>
                  <a:schemeClr val="dk1"/>
                </a:solidFill>
              </a:rPr>
              <a:t>Levenshtein Edit Distance</a:t>
            </a:r>
            <a:r>
              <a:rPr lang="en-US" sz="1800">
                <a:solidFill>
                  <a:schemeClr val="dk1"/>
                </a:solidFill>
              </a:rPr>
              <a:t> algorithm to compare misspelled words with dictionary words, calculate their similarity, and rank the best suggestions. The system aims to minimize response time while handling large dictionaries and demonstrates the practical application of </a:t>
            </a:r>
            <a:r>
              <a:rPr lang="en-US" sz="1800" b="1">
                <a:solidFill>
                  <a:schemeClr val="dk1"/>
                </a:solidFill>
              </a:rPr>
              <a:t>dynamic programming</a:t>
            </a:r>
            <a:r>
              <a:rPr lang="en-US" sz="1800">
                <a:solidFill>
                  <a:schemeClr val="dk1"/>
                </a:solidFill>
              </a:rPr>
              <a:t> in efficient text processing.</a:t>
            </a:r>
            <a:endParaRPr sz="20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US" sz="20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main objective of the project is to provide </a:t>
            </a:r>
            <a:r>
              <a:rPr lang="en-US" sz="2000" b="1">
                <a:solidFill>
                  <a:schemeClr val="dk1"/>
                </a:solidFill>
                <a:latin typeface="Times New Roman"/>
                <a:ea typeface="Times New Roman"/>
                <a:cs typeface="Times New Roman"/>
                <a:sym typeface="Times New Roman"/>
              </a:rPr>
              <a:t>accurate, fast, and user-friendly spelling suggestions</a:t>
            </a:r>
            <a:r>
              <a:rPr lang="en-US" sz="2000">
                <a:solidFill>
                  <a:schemeClr val="dk1"/>
                </a:solidFill>
                <a:latin typeface="Times New Roman"/>
                <a:ea typeface="Times New Roman"/>
                <a:cs typeface="Times New Roman"/>
                <a:sym typeface="Times New Roman"/>
              </a:rPr>
              <a:t> while efficiently handling large dictionaries. The system uses </a:t>
            </a:r>
            <a:r>
              <a:rPr lang="en-US" sz="2000" b="1">
                <a:solidFill>
                  <a:schemeClr val="dk1"/>
                </a:solidFill>
                <a:latin typeface="Times New Roman"/>
                <a:ea typeface="Times New Roman"/>
                <a:cs typeface="Times New Roman"/>
                <a:sym typeface="Times New Roman"/>
              </a:rPr>
              <a:t>dynamic programming</a:t>
            </a:r>
            <a:r>
              <a:rPr lang="en-US" sz="2000">
                <a:solidFill>
                  <a:schemeClr val="dk1"/>
                </a:solidFill>
                <a:latin typeface="Times New Roman"/>
                <a:ea typeface="Times New Roman"/>
                <a:cs typeface="Times New Roman"/>
                <a:sym typeface="Times New Roman"/>
              </a:rPr>
              <a:t> to calculate edit distances efficiently and applies suitable search and ranking techniques to reduce response time. It aims to support multilingual text, improve the accuracy of suggested corrections, and maintain good performance even when the dictionary contains a large number of words. The project also demonstrates the practical application of </a:t>
            </a:r>
            <a:r>
              <a:rPr lang="en-US" sz="2000" b="1">
                <a:solidFill>
                  <a:schemeClr val="dk1"/>
                </a:solidFill>
                <a:latin typeface="Times New Roman"/>
                <a:ea typeface="Times New Roman"/>
                <a:cs typeface="Times New Roman"/>
                <a:sym typeface="Times New Roman"/>
              </a:rPr>
              <a:t>dynamic programming, string matching, efficient searching, and multilingual text processing</a:t>
            </a:r>
            <a:r>
              <a:rPr lang="en-US" sz="2000">
                <a:solidFill>
                  <a:schemeClr val="dk1"/>
                </a:solidFill>
                <a:latin typeface="Times New Roman"/>
                <a:ea typeface="Times New Roman"/>
                <a:cs typeface="Times New Roman"/>
                <a:sym typeface="Times New Roman"/>
              </a:rPr>
              <a:t> in a real-world spell-checking system.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7"/>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Flow Chart</a:t>
            </a:r>
            <a:endParaRPr/>
          </a:p>
        </p:txBody>
      </p:sp>
      <p:pic>
        <p:nvPicPr>
          <p:cNvPr id="127" name="Google Shape;127;p7" title="ChatGPT Image Aug 23, 2026, 10_41_57 AM.png"/>
          <p:cNvPicPr preferRelativeResize="0"/>
          <p:nvPr/>
        </p:nvPicPr>
        <p:blipFill>
          <a:blip r:embed="rId3">
            <a:alphaModFix/>
          </a:blip>
          <a:stretch>
            <a:fillRect/>
          </a:stretch>
        </p:blipFill>
        <p:spPr>
          <a:xfrm>
            <a:off x="3600125" y="903800"/>
            <a:ext cx="4825725" cy="5843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8"/>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Results</a:t>
            </a:r>
            <a:endParaRPr sz="3200" b="1">
              <a:solidFill>
                <a:schemeClr val="lt1"/>
              </a:solidFill>
              <a:latin typeface="Calibri"/>
              <a:ea typeface="Calibri"/>
              <a:cs typeface="Calibri"/>
              <a:sym typeface="Calibri"/>
            </a:endParaRPr>
          </a:p>
        </p:txBody>
      </p:sp>
      <p:sp>
        <p:nvSpPr>
          <p:cNvPr id="134" name="Google Shape;134;p8"/>
          <p:cNvSpPr txBox="1"/>
          <p:nvPr/>
        </p:nvSpPr>
        <p:spPr>
          <a:xfrm>
            <a:off x="657525" y="1597725"/>
            <a:ext cx="11276400" cy="47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Intelligent Multilingual Spell Checking Suggestion System successfully identifies misspelled words and provides suitable correction suggestions using </a:t>
            </a:r>
            <a:r>
              <a:rPr lang="en-US" sz="2000" b="1">
                <a:solidFill>
                  <a:schemeClr val="dk1"/>
                </a:solidFill>
                <a:latin typeface="Times New Roman"/>
                <a:ea typeface="Times New Roman"/>
                <a:cs typeface="Times New Roman"/>
                <a:sym typeface="Times New Roman"/>
              </a:rPr>
              <a:t>Levenshtein Edit Distance</a:t>
            </a:r>
            <a:r>
              <a:rPr lang="en-US" sz="2000">
                <a:solidFill>
                  <a:schemeClr val="dk1"/>
                </a:solidFill>
                <a:latin typeface="Times New Roman"/>
                <a:ea typeface="Times New Roman"/>
                <a:cs typeface="Times New Roman"/>
                <a:sym typeface="Times New Roman"/>
              </a:rPr>
              <a:t>. The system compares the input word with dictionary words, calculates the required insertions, deletions, and substitutions, and ranks the words based on their similarity. It can support </a:t>
            </a:r>
            <a:r>
              <a:rPr lang="en-US" sz="2000" b="1">
                <a:solidFill>
                  <a:schemeClr val="dk1"/>
                </a:solidFill>
                <a:latin typeface="Times New Roman"/>
                <a:ea typeface="Times New Roman"/>
                <a:cs typeface="Times New Roman"/>
                <a:sym typeface="Times New Roman"/>
              </a:rPr>
              <a:t>multiple languages and Unicode text</a:t>
            </a:r>
            <a:r>
              <a:rPr lang="en-US" sz="2000">
                <a:solidFill>
                  <a:schemeClr val="dk1"/>
                </a:solidFill>
                <a:latin typeface="Times New Roman"/>
                <a:ea typeface="Times New Roman"/>
                <a:cs typeface="Times New Roman"/>
                <a:sym typeface="Times New Roman"/>
              </a:rPr>
              <a:t>, making it suitable for different writing systems. </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                       The system provides </a:t>
            </a:r>
            <a:r>
              <a:rPr lang="en-US" sz="2000" b="1">
                <a:solidFill>
                  <a:schemeClr val="dk1"/>
                </a:solidFill>
                <a:latin typeface="Times New Roman"/>
                <a:ea typeface="Times New Roman"/>
                <a:cs typeface="Times New Roman"/>
                <a:sym typeface="Times New Roman"/>
              </a:rPr>
              <a:t>fast and relevant spelling suggestions</a:t>
            </a:r>
            <a:r>
              <a:rPr lang="en-US" sz="2000">
                <a:solidFill>
                  <a:schemeClr val="dk1"/>
                </a:solidFill>
                <a:latin typeface="Times New Roman"/>
                <a:ea typeface="Times New Roman"/>
                <a:cs typeface="Times New Roman"/>
                <a:sym typeface="Times New Roman"/>
              </a:rPr>
              <a:t> while efficiently handling large dictionaries through dynamic programming and efficient searching techniques. The project demonstrates the practical use of </a:t>
            </a:r>
            <a:r>
              <a:rPr lang="en-US" sz="2000" b="1">
                <a:solidFill>
                  <a:schemeClr val="dk1"/>
                </a:solidFill>
                <a:latin typeface="Times New Roman"/>
                <a:ea typeface="Times New Roman"/>
                <a:cs typeface="Times New Roman"/>
                <a:sym typeface="Times New Roman"/>
              </a:rPr>
              <a:t>dynamic programming, string matching, and multilingual text processing</a:t>
            </a:r>
            <a:r>
              <a:rPr lang="en-US" sz="2000">
                <a:solidFill>
                  <a:schemeClr val="dk1"/>
                </a:solidFill>
                <a:latin typeface="Times New Roman"/>
                <a:ea typeface="Times New Roman"/>
                <a:cs typeface="Times New Roman"/>
                <a:sym typeface="Times New Roman"/>
              </a:rPr>
              <a:t> and can be useful in applications such as word processors, search engines, messaging platforms, and educational applications.</a:t>
            </a:r>
            <a:r>
              <a:rPr lang="en-US" sz="2000">
                <a:solidFill>
                  <a:schemeClr val="dk1"/>
                </a:solidFill>
              </a:rPr>
              <a:t> </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p:nvPr/>
        </p:nvSpPr>
        <p:spPr>
          <a:xfrm>
            <a:off x="3654372" y="262038"/>
            <a:ext cx="6419945" cy="60395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9"/>
          <p:cNvSpPr txBox="1"/>
          <p:nvPr/>
        </p:nvSpPr>
        <p:spPr>
          <a:xfrm>
            <a:off x="3547840" y="302403"/>
            <a:ext cx="687185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lt1"/>
                </a:solidFill>
                <a:latin typeface="Calibri"/>
                <a:ea typeface="Calibri"/>
                <a:cs typeface="Calibri"/>
                <a:sym typeface="Calibri"/>
              </a:rPr>
              <a:t>Hardware and Software requirements</a:t>
            </a:r>
            <a:endParaRPr sz="2800" b="1">
              <a:solidFill>
                <a:schemeClr val="lt1"/>
              </a:solidFill>
              <a:latin typeface="Calibri"/>
              <a:ea typeface="Calibri"/>
              <a:cs typeface="Calibri"/>
              <a:sym typeface="Calibri"/>
            </a:endParaRPr>
          </a:p>
        </p:txBody>
      </p:sp>
      <p:sp>
        <p:nvSpPr>
          <p:cNvPr id="141" name="Google Shape;141;p9"/>
          <p:cNvSpPr txBox="1"/>
          <p:nvPr/>
        </p:nvSpPr>
        <p:spPr>
          <a:xfrm>
            <a:off x="3299250" y="1402925"/>
            <a:ext cx="10732500" cy="484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rPr>
              <a:t>Hardware Requirements</a:t>
            </a:r>
            <a:endParaRPr sz="16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Processor: </a:t>
            </a:r>
            <a:r>
              <a:rPr lang="en-US" b="1">
                <a:solidFill>
                  <a:schemeClr val="dk1"/>
                </a:solidFill>
              </a:rPr>
              <a:t>Intel Core i3 / equivalent or above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RAM: </a:t>
            </a:r>
            <a:r>
              <a:rPr lang="en-US" b="1">
                <a:solidFill>
                  <a:schemeClr val="dk1"/>
                </a:solidFill>
              </a:rPr>
              <a:t>4 GB minimum, 8 GB recommended</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Storage: </a:t>
            </a:r>
            <a:r>
              <a:rPr lang="en-US" b="1">
                <a:solidFill>
                  <a:schemeClr val="dk1"/>
                </a:solidFill>
              </a:rPr>
              <a:t>At least 500 MB free space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Standard </a:t>
            </a:r>
            <a:r>
              <a:rPr lang="en-US" b="1">
                <a:solidFill>
                  <a:schemeClr val="dk1"/>
                </a:solidFill>
              </a:rPr>
              <a:t>keyboard and mouse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Display: </a:t>
            </a:r>
            <a:r>
              <a:rPr lang="en-US" b="1">
                <a:solidFill>
                  <a:schemeClr val="dk1"/>
                </a:solidFill>
              </a:rPr>
              <a:t>1024 × 768 resolution or above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Internet connection: </a:t>
            </a:r>
            <a:r>
              <a:rPr lang="en-US" b="1">
                <a:solidFill>
                  <a:schemeClr val="dk1"/>
                </a:solidFill>
              </a:rPr>
              <a:t>Optional</a:t>
            </a:r>
            <a:r>
              <a:rPr lang="en-US">
                <a:solidFill>
                  <a:schemeClr val="dk1"/>
                </a:solidFill>
              </a:rPr>
              <a:t>, mainly for downloading/updating dictionaries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rPr>
              <a:t>Software Requirements</a:t>
            </a:r>
            <a:endParaRPr sz="16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Operating System: </a:t>
            </a:r>
            <a:r>
              <a:rPr lang="en-US" b="1">
                <a:solidFill>
                  <a:schemeClr val="dk1"/>
                </a:solidFill>
              </a:rPr>
              <a:t>Windows / Linux / macOS</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Programming Language: </a:t>
            </a:r>
            <a:r>
              <a:rPr lang="en-US" b="1">
                <a:solidFill>
                  <a:schemeClr val="dk1"/>
                </a:solidFill>
              </a:rPr>
              <a:t>Python</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IDE: </a:t>
            </a:r>
            <a:r>
              <a:rPr lang="en-US" b="1">
                <a:solidFill>
                  <a:schemeClr val="dk1"/>
                </a:solidFill>
              </a:rPr>
              <a:t>VS Code / PyCharm</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Libraries: </a:t>
            </a:r>
            <a:r>
              <a:rPr lang="en-US" b="1">
                <a:solidFill>
                  <a:schemeClr val="dk1"/>
                </a:solidFill>
              </a:rPr>
              <a:t>NumPy, Pandas</a:t>
            </a:r>
            <a:r>
              <a:rPr lang="en-US">
                <a:solidFill>
                  <a:schemeClr val="dk1"/>
                </a:solidFill>
              </a:rPr>
              <a:t> </a:t>
            </a:r>
            <a:r>
              <a:rPr lang="en-US" i="1">
                <a:solidFill>
                  <a:schemeClr val="dk1"/>
                </a:solidFill>
              </a:rPr>
              <a:t>(if required for implementation)</a:t>
            </a:r>
            <a:endParaRPr i="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Core Algorithm: </a:t>
            </a:r>
            <a:r>
              <a:rPr lang="en-US" b="1">
                <a:solidFill>
                  <a:schemeClr val="dk1"/>
                </a:solidFill>
              </a:rPr>
              <a:t>Levenshtein Edit Distance using Dynamic Programming</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Dictionary: </a:t>
            </a:r>
            <a:r>
              <a:rPr lang="en-US" b="1">
                <a:solidFill>
                  <a:schemeClr val="dk1"/>
                </a:solidFill>
              </a:rPr>
              <a:t>Multilingual Unicode-compatible word database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Text Encoding: </a:t>
            </a:r>
            <a:r>
              <a:rPr lang="en-US" b="1">
                <a:solidFill>
                  <a:schemeClr val="dk1"/>
                </a:solidFill>
              </a:rPr>
              <a:t>UTF-8</a:t>
            </a:r>
            <a:endParaRPr b="1">
              <a:solidFill>
                <a:schemeClr val="dk1"/>
              </a:solidFill>
            </a:endParaRPr>
          </a:p>
          <a:p>
            <a:pPr marL="0" lvl="0" indent="0" algn="l" rtl="0">
              <a:spcBef>
                <a:spcPts val="1200"/>
              </a:spcBef>
              <a:spcAft>
                <a:spcPts val="0"/>
              </a:spcAft>
              <a:buNone/>
            </a:pP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10"/>
          <p:cNvSpPr txBox="1"/>
          <p:nvPr/>
        </p:nvSpPr>
        <p:spPr>
          <a:xfrm>
            <a:off x="2660072" y="18790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Conclusion</a:t>
            </a:r>
            <a:endParaRPr/>
          </a:p>
        </p:txBody>
      </p:sp>
      <p:sp>
        <p:nvSpPr>
          <p:cNvPr id="148" name="Google Shape;148;p10"/>
          <p:cNvSpPr txBox="1"/>
          <p:nvPr/>
        </p:nvSpPr>
        <p:spPr>
          <a:xfrm>
            <a:off x="664650" y="1951725"/>
            <a:ext cx="11417100" cy="4701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endParaRPr sz="19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sz="1700">
                <a:solidFill>
                  <a:schemeClr val="dk1"/>
                </a:solidFill>
              </a:rPr>
              <a:t>The </a:t>
            </a:r>
            <a:r>
              <a:rPr lang="en-US" sz="1700" b="1">
                <a:solidFill>
                  <a:schemeClr val="dk1"/>
                </a:solidFill>
              </a:rPr>
              <a:t>Intelligent Spell Checker</a:t>
            </a:r>
            <a:r>
              <a:rPr lang="en-US" sz="1700">
                <a:solidFill>
                  <a:schemeClr val="dk1"/>
                </a:solidFill>
              </a:rPr>
              <a:t> provides an efficient solution for detecting misspelled words and generating relevant correction suggestions.</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The </a:t>
            </a:r>
            <a:r>
              <a:rPr lang="en-US" sz="1700" b="1">
                <a:solidFill>
                  <a:schemeClr val="dk1"/>
                </a:solidFill>
              </a:rPr>
              <a:t>Levenshtein Edit Distance algorithm</a:t>
            </a:r>
            <a:r>
              <a:rPr lang="en-US" sz="1700">
                <a:solidFill>
                  <a:schemeClr val="dk1"/>
                </a:solidFill>
              </a:rPr>
              <a:t> accurately measures the similarity between an incorrectly typed word and valid dictionary words.</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b="1">
                <a:solidFill>
                  <a:schemeClr val="dk1"/>
                </a:solidFill>
              </a:rPr>
              <a:t>Dynamic Programming</a:t>
            </a:r>
            <a:r>
              <a:rPr lang="en-US" sz="1700">
                <a:solidFill>
                  <a:schemeClr val="dk1"/>
                </a:solidFill>
              </a:rPr>
              <a:t> minimizes repeated calculations, making the spell-checking process faster and more efficient.</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The system supports </a:t>
            </a:r>
            <a:r>
              <a:rPr lang="en-US" sz="1700" b="1">
                <a:solidFill>
                  <a:schemeClr val="dk1"/>
                </a:solidFill>
              </a:rPr>
              <a:t>Unicode and multilingual text</a:t>
            </a:r>
            <a:r>
              <a:rPr lang="en-US" sz="1700">
                <a:solidFill>
                  <a:schemeClr val="dk1"/>
                </a:solidFill>
              </a:rPr>
              <a:t>, making it suitable for different languages and writing systems.</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Ranked suggestions help users quickly identify and select the </a:t>
            </a:r>
            <a:r>
              <a:rPr lang="en-US" sz="1700" b="1">
                <a:solidFill>
                  <a:schemeClr val="dk1"/>
                </a:solidFill>
              </a:rPr>
              <a:t>most appropriate correction</a:t>
            </a:r>
            <a:r>
              <a:rPr lang="en-US" sz="1700">
                <a:solidFill>
                  <a:schemeClr val="dk1"/>
                </a:solidFill>
              </a:rPr>
              <a:t>.</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The system can reduce spelling errors and improve </a:t>
            </a:r>
            <a:r>
              <a:rPr lang="en-US" sz="1700" b="1">
                <a:solidFill>
                  <a:schemeClr val="dk1"/>
                </a:solidFill>
              </a:rPr>
              <a:t>typing accuracy, readability, and communication quality</a:t>
            </a:r>
            <a:r>
              <a:rPr lang="en-US" sz="1700">
                <a:solidFill>
                  <a:schemeClr val="dk1"/>
                </a:solidFill>
              </a:rPr>
              <a:t>.</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Overall, the project demonstrates the practical application of </a:t>
            </a:r>
            <a:r>
              <a:rPr lang="en-US" sz="1700" b="1">
                <a:solidFill>
                  <a:schemeClr val="dk1"/>
                </a:solidFill>
              </a:rPr>
              <a:t>Dynamic Programming, string matching, efficient searching, and multilingual text processing</a:t>
            </a:r>
            <a:r>
              <a:rPr lang="en-US" sz="1700">
                <a:solidFill>
                  <a:schemeClr val="dk1"/>
                </a:solidFill>
              </a:rPr>
              <a:t> in a real-world application.</a:t>
            </a:r>
            <a:endParaRPr sz="1700">
              <a:solidFill>
                <a:schemeClr val="dk1"/>
              </a:solidFill>
            </a:endParaRPr>
          </a:p>
          <a:p>
            <a:pPr marL="0" lvl="0" indent="0" algn="l" rtl="0">
              <a:spcBef>
                <a:spcPts val="1200"/>
              </a:spcBef>
              <a:spcAft>
                <a:spcPts val="0"/>
              </a:spcAft>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11"/>
          <p:cNvSpPr txBox="1"/>
          <p:nvPr/>
        </p:nvSpPr>
        <p:spPr>
          <a:xfrm>
            <a:off x="2660072" y="15413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 Future Scope</a:t>
            </a:r>
            <a:endParaRPr/>
          </a:p>
        </p:txBody>
      </p:sp>
      <p:sp>
        <p:nvSpPr>
          <p:cNvPr id="155" name="Google Shape;155;p11"/>
          <p:cNvSpPr txBox="1"/>
          <p:nvPr/>
        </p:nvSpPr>
        <p:spPr>
          <a:xfrm>
            <a:off x="1639925" y="2053775"/>
            <a:ext cx="9438900" cy="404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b="1">
                <a:solidFill>
                  <a:schemeClr val="dk1"/>
                </a:solidFill>
              </a:rPr>
              <a:t>AI-based suggestions:</a:t>
            </a:r>
            <a:r>
              <a:rPr lang="en-US" sz="1800">
                <a:solidFill>
                  <a:schemeClr val="dk1"/>
                </a:solidFill>
              </a:rPr>
              <a:t> Use Machine Learning/NLP to provide more context-aware corrections.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Auto-correction:</a:t>
            </a:r>
            <a:r>
              <a:rPr lang="en-US" sz="1800">
                <a:solidFill>
                  <a:schemeClr val="dk1"/>
                </a:solidFill>
              </a:rPr>
              <a:t> Automatically replace highly confident spelling errors.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Grammar checking:</a:t>
            </a:r>
            <a:r>
              <a:rPr lang="en-US" sz="1800">
                <a:solidFill>
                  <a:schemeClr val="dk1"/>
                </a:solidFill>
              </a:rPr>
              <a:t> Extend the system to identify grammatical mistakes along with spelling errors.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Voice input:</a:t>
            </a:r>
            <a:r>
              <a:rPr lang="en-US" sz="1800">
                <a:solidFill>
                  <a:schemeClr val="dk1"/>
                </a:solidFill>
              </a:rPr>
              <a:t> Support speech-to-text spell checking.</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More languages:</a:t>
            </a:r>
            <a:r>
              <a:rPr lang="en-US" sz="1800">
                <a:solidFill>
                  <a:schemeClr val="dk1"/>
                </a:solidFill>
              </a:rPr>
              <a:t> Expand the multilingual dictionary to support additional languages and regional scripts.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Personalized dictionary:</a:t>
            </a:r>
            <a:r>
              <a:rPr lang="en-US" sz="1800">
                <a:solidFill>
                  <a:schemeClr val="dk1"/>
                </a:solidFill>
              </a:rPr>
              <a:t> Allow users to add names, technical terms, and frequently used words.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Cloud/API integration:</a:t>
            </a:r>
            <a:r>
              <a:rPr lang="en-US" sz="1800">
                <a:solidFill>
                  <a:schemeClr val="dk1"/>
                </a:solidFill>
              </a:rPr>
              <a:t> Make the spell checker available as an API for websites and mobile applications.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Real-time checking:</a:t>
            </a:r>
            <a:r>
              <a:rPr lang="en-US" sz="1800">
                <a:solidFill>
                  <a:schemeClr val="dk1"/>
                </a:solidFill>
              </a:rPr>
              <a:t> Provide instant suggestions while the user is typing.</a:t>
            </a:r>
            <a:endParaRPr sz="1800">
              <a:solidFill>
                <a:schemeClr val="dk1"/>
              </a:solidFill>
            </a:endParaRPr>
          </a:p>
          <a:p>
            <a:pPr marL="0" lvl="0" indent="0" algn="l" rtl="0">
              <a:spcBef>
                <a:spcPts val="0"/>
              </a:spcBef>
              <a:spcAft>
                <a:spcPts val="0"/>
              </a:spcAft>
              <a:buNone/>
            </a:pP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2"/>
          <p:cNvSpPr/>
          <p:nvPr/>
        </p:nvSpPr>
        <p:spPr>
          <a:xfrm>
            <a:off x="3736107" y="2619376"/>
            <a:ext cx="4946253" cy="135782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Thank you</a:t>
            </a:r>
            <a:endParaRPr sz="3200"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1190</Words>
  <Application>Microsoft Office PowerPoint</Application>
  <PresentationFormat>Widescreen</PresentationFormat>
  <Paragraphs>74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Title of the project: Intelligent Multilingual Spell Checking Suggestion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Sirisha Devi</dc:creator>
  <cp:lastModifiedBy>Tower PMC</cp:lastModifiedBy>
  <cp:revision>1</cp:revision>
  <dcterms:created xsi:type="dcterms:W3CDTF">2024-08-29T05:25:00Z</dcterms:created>
  <dcterms:modified xsi:type="dcterms:W3CDTF">2026-10-12T04:39:02Z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